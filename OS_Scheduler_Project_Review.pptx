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a29cb64-301f-3f88-cdb4-f9a26d0da4c3}">
          <p14:sldIdLst>
            <p14:sldId id="256"/>
            <p14:sldId id="257"/>
            <p14:sldId id="258"/>
          </p14:sldIdLst>
        </p14:section>
        <p14:section name="Design" id="{39368711-dd73-67b2-4770-7ce65283c3f4}">
          <p14:sldIdLst>
            <p14:sldId id="259"/>
            <p14:sldId id="260"/>
            <p14:sldId id="261"/>
            <p14:sldId id="262"/>
            <p14:sldId id="263"/>
          </p14:sldIdLst>
        </p14:section>
        <p14:section name="Implementation" id="{db3f8fa4-aff3-8604-3fbe-3c4bd1121c24}">
          <p14:sldIdLst>
            <p14:sldId id="264"/>
            <p14:sldId id="265"/>
          </p14:sldIdLst>
        </p14:section>
        <p14:section name="Results" id="{2e4d3173-1de1-ba8c-4665-805a0867ba5b}">
          <p14:sldIdLst>
            <p14:sldId id="266"/>
            <p14:sldId id="267"/>
          </p14:sldIdLst>
        </p14:section>
        <p14:section name="Wrap-up" id="{3a5d48ef-6a82-9b64-c0c8-858d48c89351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0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02B"/>
                </a:solidFill>
                <a:latin typeface="+mn-lt"/>
              </a:rPr>
              <a:t>Default metric weights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39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C5CE7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E9E5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5A623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E4572E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8696A3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Avg waiting</c:v>
                </c:pt>
                <c:pt idx="1">
                  <c:v>Avg response</c:v>
                </c:pt>
                <c:pt idx="2">
                  <c:v>Fairness</c:v>
                </c:pt>
                <c:pt idx="3">
                  <c:v>Avg turnaround</c:v>
                </c:pt>
                <c:pt idx="4">
                  <c:v>Worst-case wait</c:v>
                </c:pt>
                <c:pt idx="5">
                  <c:v>Context switches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020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0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02B"/>
                </a:solidFill>
                <a:latin typeface="+mn-lt"/>
              </a:rPr>
              <a:t>Overall score out of 100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0A39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3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C0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4C0C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4C0C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4C0C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4C0C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4C0C9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SRTF</c:v>
                  </c:pt>
                  <c:pt idx="1">
                    <c:v>SJF</c:v>
                  </c:pt>
                  <c:pt idx="2">
                    <c:v>Round Robin</c:v>
                  </c:pt>
                  <c:pt idx="3">
                    <c:v>MLFQ</c:v>
                  </c:pt>
                  <c:pt idx="4">
                    <c:v>Priority (P)</c:v>
                  </c:pt>
                  <c:pt idx="5">
                    <c:v>FCFS</c:v>
                  </c:pt>
                  <c:pt idx="6">
                    <c:v>Priority (NP)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99.5</c:v>
                </c:pt>
                <c:pt idx="1">
                  <c:v>93.9</c:v>
                </c:pt>
                <c:pt idx="2">
                  <c:v>55.7</c:v>
                </c:pt>
                <c:pt idx="3">
                  <c:v>51.5</c:v>
                </c:pt>
                <c:pt idx="4">
                  <c:v>22.3</c:v>
                </c:pt>
                <c:pt idx="5">
                  <c:v>13.8</c:v>
                </c:pt>
                <c:pt idx="6">
                  <c:v>13.2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02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tool that needs no typed input. It reads live processes and machine properties, simulates every major CPU scheduling algorithm on that data and recommends the best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usual lab programs ask the student to type a table of numbers. Our program removes that step and also answers the question every student is asked: which algorithm is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goals: no input, compare every algorithm, give a recommendation, and present it in a live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revision of each algorithm: what it picks, whether it can preempt, and its main weakness. These weaknesses are exactly what the metrics in the tool expose.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in six stages, numbered in order. The first three gather real data, the fourth simulates, the fifth scores, the last presents.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column is what a scheduler needs. Right column is where our program gets it. Burst is log-scaled because lifetime CPU time ranges from milliseconds to hours. The quantum uses the textbook rule that about 80 percent of bursts should finish inside one slice.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policy is a small class that answers one question: which ready process runs for the next millisecond. The engine charges the measured context-switch time whenever the CPU changes process, so switch-heavy algorithms are penalised fairly.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 is 100 minus the weighted sum of normalised penalties. Weights are not fixed: if more than 40 percent of processes are I/O-bound, response time gains weight; if burst times vary a lot, waiting time and worst-case wait gain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files do all the work. Only one external package is needed, psutil. The web server uses only the Python standard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here: run python server.py, open the page, click Analyze now, then change the workload (open or close apps) and analyze again to show that the winner can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come from one real run. FCFS and non-preemptive priority score lowest because short jobs wait behind long ones. SRTF and SJF win on this CPU-bound, uneven workload.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the running apps and re-run the analysis: the recommendation can change. This is the main message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limitations: it is a simulation on a snapshot of real data. The future-work list shows how it could grow into a more realistic scheduler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Textbook chapters on CPU scheduling were used for the algorithm definitions and the quantum rule of thumb.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takeaways, then invite questions. Offer a live demo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Auto CPU Scheduling Analyzer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Operating Systems course project · Review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Measures your machine, simulates 7 scheduling algorithms, recommends the best one</a:t>
            </a:r>
            <a:endParaRPr lang="en-US" sz="1800" dirty="0"/>
          </a:p>
        </p:txBody>
      </p:sp>
      <p:sp>
        <p:nvSpPr>
          <p:cNvPr id="4" name="CPU icon circle"/>
          <p:cNvSpPr/>
          <p:nvPr/>
        </p:nvSpPr>
        <p:spPr>
          <a:xfrm>
            <a:off x="7772400" y="548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PU icon" descr="CPU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595" y="738835"/>
            <a:ext cx="351130" cy="351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scheduler demos fall short</a:t>
            </a:r>
            <a:endParaRPr lang="en-US" sz="3200" dirty="0"/>
          </a:p>
        </p:txBody>
      </p:sp>
      <p:sp>
        <p:nvSpPr>
          <p:cNvPr id="3" name="Typical simulators card"/>
          <p:cNvSpPr/>
          <p:nvPr/>
        </p:nvSpPr>
        <p:spPr>
          <a:xfrm>
            <a:off x="457200" y="128016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Typical simulators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You type every arrival and burst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algorithm at a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verdict on which is best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Context switching assumed free</a:t>
            </a:r>
            <a:endParaRPr lang="en-US" sz="1600" dirty="0"/>
          </a:p>
        </p:txBody>
      </p:sp>
      <p:sp>
        <p:nvSpPr>
          <p:cNvPr id="6" name="This project card"/>
          <p:cNvSpPr/>
          <p:nvPr/>
        </p:nvSpPr>
        <p:spPr>
          <a:xfrm>
            <a:off x="4754880" y="128016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This project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Arrival, burst, priority read from live processes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All 7 algorithms on the same workload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Weighted score picks the winner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Real context-switch time measured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Project objectives</a:t>
            </a:r>
            <a:endParaRPr lang="en-US" sz="3200" dirty="0"/>
          </a:p>
        </p:txBody>
      </p:sp>
      <p:sp>
        <p:nvSpPr>
          <p:cNvPr id="3" name="Zero input card"/>
          <p:cNvSpPr/>
          <p:nvPr/>
        </p:nvSpPr>
        <p:spPr>
          <a:xfrm>
            <a:off x="45720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Zero input icon circle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Zero input icon" descr="Zero inpu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18699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Zero input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920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typed burst or arrival times. Everything is measured.</a:t>
            </a:r>
            <a:endParaRPr lang="en-US" sz="1400" dirty="0"/>
          </a:p>
        </p:txBody>
      </p:sp>
      <p:sp>
        <p:nvSpPr>
          <p:cNvPr id="8" name="Compare all card"/>
          <p:cNvSpPr/>
          <p:nvPr/>
        </p:nvSpPr>
        <p:spPr>
          <a:xfrm>
            <a:off x="470916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Compare all icon circle"/>
          <p:cNvSpPr/>
          <p:nvPr/>
        </p:nvSpPr>
        <p:spPr>
          <a:xfrm>
            <a:off x="4937760" y="16916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Compare all icon" descr="Compare al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068" y="18699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Compare all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1920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FCFS, SJF, SRTF, Priority, Round Robin and MLFQ side by side.</a:t>
            </a:r>
            <a:endParaRPr lang="en-US" sz="1400" dirty="0"/>
          </a:p>
        </p:txBody>
      </p:sp>
      <p:sp>
        <p:nvSpPr>
          <p:cNvPr id="13" name="Recommend card"/>
          <p:cNvSpPr/>
          <p:nvPr/>
        </p:nvSpPr>
        <p:spPr>
          <a:xfrm>
            <a:off x="457200" y="2971800"/>
            <a:ext cx="39776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4" name="Recommend icon circle"/>
          <p:cNvSpPr/>
          <p:nvPr/>
        </p:nvSpPr>
        <p:spPr>
          <a:xfrm>
            <a:off x="685800" y="33832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Recommend icon" descr="Recommen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35615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Recommend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611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scored verdict for the processes running right now.</a:t>
            </a:r>
            <a:endParaRPr lang="en-US" sz="1400" dirty="0"/>
          </a:p>
        </p:txBody>
      </p:sp>
      <p:sp>
        <p:nvSpPr>
          <p:cNvPr id="18" name="Live dashboard card"/>
          <p:cNvSpPr/>
          <p:nvPr/>
        </p:nvSpPr>
        <p:spPr>
          <a:xfrm>
            <a:off x="4709160" y="2971800"/>
            <a:ext cx="39776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9" name="Live dashboard icon circle"/>
          <p:cNvSpPr/>
          <p:nvPr/>
        </p:nvSpPr>
        <p:spPr>
          <a:xfrm>
            <a:off x="4937760" y="33832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Live dashboard icon" descr="Live dashboar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068" y="356158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5216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Live dashboard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5852160" y="3611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Website with charts and Gantt timelines, plus a CLI.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Algorithms compared</a:t>
            </a:r>
            <a:endParaRPr lang="en-US" sz="3200" dirty="0"/>
          </a:p>
        </p:txBody>
      </p:sp>
      <p:graphicFrame>
        <p:nvGraphicFramePr>
          <p:cNvPr id="5" name="Algorith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137160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Algorithm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Picks next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Preemptive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Weakness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FCFS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Earliest arrival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Convoy effect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SJF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Shortest burst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Long jobs starve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SRTF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Least time remaining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Many switches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Priority (NP)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Best priority number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Starvation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Priority (P)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Best priority number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Starvation, switches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Round Robin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Next in queue, fixed slice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Longer turnaround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MLFQ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Highest non-empty queue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Complex to tune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System probe card"/>
          <p:cNvSpPr/>
          <p:nvPr/>
        </p:nvSpPr>
        <p:spPr>
          <a:xfrm>
            <a:off x="457200" y="12801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Step 1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63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System probe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Clock speed, cores, RAM, disk, network, context-switch time</a:t>
            </a:r>
            <a:endParaRPr lang="en-US" sz="1400" dirty="0"/>
          </a:p>
        </p:txBody>
      </p:sp>
      <p:sp>
        <p:nvSpPr>
          <p:cNvPr id="8" name="Process sampler card"/>
          <p:cNvSpPr/>
          <p:nvPr/>
        </p:nvSpPr>
        <p:spPr>
          <a:xfrm>
            <a:off x="3337560" y="12801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Step 2"/>
          <p:cNvSpPr/>
          <p:nvPr/>
        </p:nvSpPr>
        <p:spPr>
          <a:xfrm>
            <a:off x="352044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463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Process sampler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CPU-time snapshots, one second apart, for every process</a:t>
            </a:r>
            <a:endParaRPr lang="en-US" sz="1400" dirty="0"/>
          </a:p>
        </p:txBody>
      </p:sp>
      <p:sp>
        <p:nvSpPr>
          <p:cNvPr id="13" name="Workload builder card"/>
          <p:cNvSpPr/>
          <p:nvPr/>
        </p:nvSpPr>
        <p:spPr>
          <a:xfrm>
            <a:off x="6217920" y="12801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4" name="Step 3"/>
          <p:cNvSpPr/>
          <p:nvPr/>
        </p:nvSpPr>
        <p:spPr>
          <a:xfrm>
            <a:off x="640080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463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Workload builder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Arrival, burst, priority and type from real data</a:t>
            </a:r>
            <a:endParaRPr lang="en-US" sz="1400" dirty="0"/>
          </a:p>
        </p:txBody>
      </p:sp>
      <p:sp>
        <p:nvSpPr>
          <p:cNvPr id="18" name="Simulation engine card"/>
          <p:cNvSpPr/>
          <p:nvPr/>
        </p:nvSpPr>
        <p:spPr>
          <a:xfrm>
            <a:off x="457200" y="297180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9" name="Step 4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154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Simulation engine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03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 schedulers on one workload in 1 ms ticks</a:t>
            </a:r>
            <a:endParaRPr lang="en-US" sz="1400" dirty="0"/>
          </a:p>
        </p:txBody>
      </p:sp>
      <p:sp>
        <p:nvSpPr>
          <p:cNvPr id="23" name="Scorer card"/>
          <p:cNvSpPr/>
          <p:nvPr/>
        </p:nvSpPr>
        <p:spPr>
          <a:xfrm>
            <a:off x="3337560" y="297180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4" name="Step 5"/>
          <p:cNvSpPr/>
          <p:nvPr/>
        </p:nvSpPr>
        <p:spPr>
          <a:xfrm>
            <a:off x="352044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52044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154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Scorer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520440" y="3703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Normalise metrics, apply adaptive weights, rank</a:t>
            </a:r>
            <a:endParaRPr lang="en-US" sz="1400" dirty="0"/>
          </a:p>
        </p:txBody>
      </p:sp>
      <p:sp>
        <p:nvSpPr>
          <p:cNvPr id="28" name="Dashboard + CLI card"/>
          <p:cNvSpPr/>
          <p:nvPr/>
        </p:nvSpPr>
        <p:spPr>
          <a:xfrm>
            <a:off x="6217920" y="297180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9" name="Step 6"/>
          <p:cNvSpPr/>
          <p:nvPr/>
        </p:nvSpPr>
        <p:spPr>
          <a:xfrm>
            <a:off x="640080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3154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Dashboard + CLI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3703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Website with Gantt charts, or terminal report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Real data replaces typed input</a:t>
            </a:r>
            <a:endParaRPr lang="en-US" sz="3200" dirty="0"/>
          </a:p>
        </p:txBody>
      </p:sp>
      <p:sp>
        <p:nvSpPr>
          <p:cNvPr id="3" name="Arrival time need"/>
          <p:cNvSpPr/>
          <p:nvPr/>
        </p:nvSpPr>
        <p:spPr>
          <a:xfrm>
            <a:off x="457200" y="1188720"/>
            <a:ext cx="219456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Arrival time</a:t>
            </a:r>
            <a:endParaRPr lang="en-US" sz="1600" dirty="0"/>
          </a:p>
        </p:txBody>
      </p:sp>
      <p:sp>
        <p:nvSpPr>
          <p:cNvPr id="5" name="Arrow 1"/>
          <p:cNvSpPr/>
          <p:nvPr/>
        </p:nvSpPr>
        <p:spPr>
          <a:xfrm>
            <a:off x="2788920" y="1280160"/>
            <a:ext cx="457200" cy="274320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6" name="Arrival time source"/>
          <p:cNvSpPr/>
          <p:nvPr/>
        </p:nvSpPr>
        <p:spPr>
          <a:xfrm>
            <a:off x="3383280" y="1188720"/>
            <a:ext cx="53035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Process creation time (oldest = 0 ms)</a:t>
            </a:r>
            <a:endParaRPr lang="en-US" sz="1500" dirty="0"/>
          </a:p>
        </p:txBody>
      </p:sp>
      <p:sp>
        <p:nvSpPr>
          <p:cNvPr id="8" name="Burst time need"/>
          <p:cNvSpPr/>
          <p:nvPr/>
        </p:nvSpPr>
        <p:spPr>
          <a:xfrm>
            <a:off x="457200" y="1737360"/>
            <a:ext cx="219456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Burst time</a:t>
            </a:r>
            <a:endParaRPr lang="en-US" sz="1600" dirty="0"/>
          </a:p>
        </p:txBody>
      </p:sp>
      <p:sp>
        <p:nvSpPr>
          <p:cNvPr id="10" name="Arrow 2"/>
          <p:cNvSpPr/>
          <p:nvPr/>
        </p:nvSpPr>
        <p:spPr>
          <a:xfrm>
            <a:off x="2788920" y="1828800"/>
            <a:ext cx="457200" cy="274320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11" name="Burst time source"/>
          <p:cNvSpPr/>
          <p:nvPr/>
        </p:nvSpPr>
        <p:spPr>
          <a:xfrm>
            <a:off x="3383280" y="1737360"/>
            <a:ext cx="53035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6616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CPU time consumed, log-scaled to 5-100 ms</a:t>
            </a:r>
            <a:endParaRPr lang="en-US" sz="1500" dirty="0"/>
          </a:p>
        </p:txBody>
      </p:sp>
      <p:sp>
        <p:nvSpPr>
          <p:cNvPr id="13" name="Priority need"/>
          <p:cNvSpPr/>
          <p:nvPr/>
        </p:nvSpPr>
        <p:spPr>
          <a:xfrm>
            <a:off x="457200" y="2286000"/>
            <a:ext cx="219456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Priority</a:t>
            </a:r>
            <a:endParaRPr lang="en-US" sz="1600" dirty="0"/>
          </a:p>
        </p:txBody>
      </p:sp>
      <p:sp>
        <p:nvSpPr>
          <p:cNvPr id="15" name="Arrow 3"/>
          <p:cNvSpPr/>
          <p:nvPr/>
        </p:nvSpPr>
        <p:spPr>
          <a:xfrm>
            <a:off x="2788920" y="2377440"/>
            <a:ext cx="457200" cy="274320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16" name="Priority source"/>
          <p:cNvSpPr/>
          <p:nvPr/>
        </p:nvSpPr>
        <p:spPr>
          <a:xfrm>
            <a:off x="3383280" y="2286000"/>
            <a:ext cx="53035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6616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OS nice value, minus 3 if I/O-bound</a:t>
            </a:r>
            <a:endParaRPr lang="en-US" sz="1500" dirty="0"/>
          </a:p>
        </p:txBody>
      </p:sp>
      <p:sp>
        <p:nvSpPr>
          <p:cNvPr id="18" name="CPU work need"/>
          <p:cNvSpPr/>
          <p:nvPr/>
        </p:nvSpPr>
        <p:spPr>
          <a:xfrm>
            <a:off x="457200" y="2834640"/>
            <a:ext cx="219456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CPU work</a:t>
            </a:r>
            <a:endParaRPr lang="en-US" sz="1600" dirty="0"/>
          </a:p>
        </p:txBody>
      </p:sp>
      <p:sp>
        <p:nvSpPr>
          <p:cNvPr id="20" name="Arrow 4"/>
          <p:cNvSpPr/>
          <p:nvPr/>
        </p:nvSpPr>
        <p:spPr>
          <a:xfrm>
            <a:off x="2788920" y="2926080"/>
            <a:ext cx="457200" cy="274320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21" name="CPU work source"/>
          <p:cNvSpPr/>
          <p:nvPr/>
        </p:nvSpPr>
        <p:spPr>
          <a:xfrm>
            <a:off x="3383280" y="2834640"/>
            <a:ext cx="53035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56616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CPU seconds × measured clock speed (Mcycles)</a:t>
            </a:r>
            <a:endParaRPr lang="en-US" sz="1500" dirty="0"/>
          </a:p>
        </p:txBody>
      </p:sp>
      <p:sp>
        <p:nvSpPr>
          <p:cNvPr id="23" name="Time quantum need"/>
          <p:cNvSpPr/>
          <p:nvPr/>
        </p:nvSpPr>
        <p:spPr>
          <a:xfrm>
            <a:off x="457200" y="3383280"/>
            <a:ext cx="219456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Time quantum</a:t>
            </a:r>
            <a:endParaRPr lang="en-US" sz="1600" dirty="0"/>
          </a:p>
        </p:txBody>
      </p:sp>
      <p:sp>
        <p:nvSpPr>
          <p:cNvPr id="25" name="Arrow 5"/>
          <p:cNvSpPr/>
          <p:nvPr/>
        </p:nvSpPr>
        <p:spPr>
          <a:xfrm>
            <a:off x="2788920" y="3474720"/>
            <a:ext cx="457200" cy="274320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26" name="Time quantum source"/>
          <p:cNvSpPr/>
          <p:nvPr/>
        </p:nvSpPr>
        <p:spPr>
          <a:xfrm>
            <a:off x="3383280" y="3383280"/>
            <a:ext cx="53035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66160" y="3383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80th percentile of the burst times</a:t>
            </a:r>
            <a:endParaRPr lang="en-US" sz="1500" dirty="0"/>
          </a:p>
        </p:txBody>
      </p:sp>
      <p:sp>
        <p:nvSpPr>
          <p:cNvPr id="28" name="Switch cost need"/>
          <p:cNvSpPr/>
          <p:nvPr/>
        </p:nvSpPr>
        <p:spPr>
          <a:xfrm>
            <a:off x="457200" y="3931920"/>
            <a:ext cx="219456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Switch cost</a:t>
            </a:r>
            <a:endParaRPr lang="en-US" sz="1600" dirty="0"/>
          </a:p>
        </p:txBody>
      </p:sp>
      <p:sp>
        <p:nvSpPr>
          <p:cNvPr id="30" name="Arrow 6"/>
          <p:cNvSpPr/>
          <p:nvPr/>
        </p:nvSpPr>
        <p:spPr>
          <a:xfrm>
            <a:off x="2788920" y="4023360"/>
            <a:ext cx="457200" cy="274320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31" name="Switch cost source"/>
          <p:cNvSpPr/>
          <p:nvPr/>
        </p:nvSpPr>
        <p:spPr>
          <a:xfrm>
            <a:off x="3383280" y="3931920"/>
            <a:ext cx="53035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6616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Measured thread context-switch time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Simulation engine</a:t>
            </a:r>
            <a:endParaRPr lang="en-US" sz="3200" dirty="0"/>
          </a:p>
        </p:txBody>
      </p:sp>
      <p:sp>
        <p:nvSpPr>
          <p:cNvPr id="3" name="Engine rules card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How it runs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ms ticks; the policy picks who runs next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 switch cost is added to the clock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CPU idles until the next arrival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Identical workload for every algorithm</a:t>
            </a:r>
            <a:endParaRPr lang="en-US" sz="1600" dirty="0"/>
          </a:p>
        </p:txBody>
      </p:sp>
      <p:sp>
        <p:nvSpPr>
          <p:cNvPr id="6" name="FCFS tile"/>
          <p:cNvSpPr/>
          <p:nvPr/>
        </p:nvSpPr>
        <p:spPr>
          <a:xfrm>
            <a:off x="4663440" y="1280160"/>
            <a:ext cx="196596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1280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FCFS</a:t>
            </a:r>
            <a:endParaRPr lang="en-US" sz="1600" dirty="0"/>
          </a:p>
        </p:txBody>
      </p:sp>
      <p:sp>
        <p:nvSpPr>
          <p:cNvPr id="8" name="SJF tile"/>
          <p:cNvSpPr/>
          <p:nvPr/>
        </p:nvSpPr>
        <p:spPr>
          <a:xfrm>
            <a:off x="6720840" y="1280160"/>
            <a:ext cx="196596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20840" y="12801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SJF</a:t>
            </a:r>
            <a:endParaRPr lang="en-US" sz="1600" dirty="0"/>
          </a:p>
        </p:txBody>
      </p:sp>
      <p:sp>
        <p:nvSpPr>
          <p:cNvPr id="10" name="SRTF tile"/>
          <p:cNvSpPr/>
          <p:nvPr/>
        </p:nvSpPr>
        <p:spPr>
          <a:xfrm>
            <a:off x="4663440" y="2103120"/>
            <a:ext cx="196596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03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SRTF</a:t>
            </a:r>
            <a:endParaRPr lang="en-US" sz="1600" dirty="0"/>
          </a:p>
        </p:txBody>
      </p:sp>
      <p:sp>
        <p:nvSpPr>
          <p:cNvPr id="12" name="Priority (NP) tile"/>
          <p:cNvSpPr/>
          <p:nvPr/>
        </p:nvSpPr>
        <p:spPr>
          <a:xfrm>
            <a:off x="6720840" y="2103120"/>
            <a:ext cx="1965960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2103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Priority (NP)</a:t>
            </a:r>
            <a:endParaRPr lang="en-US" sz="1600" dirty="0"/>
          </a:p>
        </p:txBody>
      </p:sp>
      <p:sp>
        <p:nvSpPr>
          <p:cNvPr id="14" name="Priority (P) tile"/>
          <p:cNvSpPr/>
          <p:nvPr/>
        </p:nvSpPr>
        <p:spPr>
          <a:xfrm>
            <a:off x="4663440" y="2926080"/>
            <a:ext cx="1965960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29260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Priority (P)</a:t>
            </a:r>
            <a:endParaRPr lang="en-US" sz="1600" dirty="0"/>
          </a:p>
        </p:txBody>
      </p:sp>
      <p:sp>
        <p:nvSpPr>
          <p:cNvPr id="16" name="Round Robin tile"/>
          <p:cNvSpPr/>
          <p:nvPr/>
        </p:nvSpPr>
        <p:spPr>
          <a:xfrm>
            <a:off x="6720840" y="2926080"/>
            <a:ext cx="1965960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29260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Round Robin</a:t>
            </a:r>
            <a:endParaRPr lang="en-US" sz="1600" dirty="0"/>
          </a:p>
        </p:txBody>
      </p:sp>
      <p:sp>
        <p:nvSpPr>
          <p:cNvPr id="18" name="MLFQ tile"/>
          <p:cNvSpPr/>
          <p:nvPr/>
        </p:nvSpPr>
        <p:spPr>
          <a:xfrm>
            <a:off x="4663440" y="3749040"/>
            <a:ext cx="1965960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0" y="3749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MLFQ</a:t>
            </a:r>
            <a:endParaRPr lang="en-US" sz="1600" dirty="0"/>
          </a:p>
        </p:txBody>
      </p:sp>
      <p:sp>
        <p:nvSpPr>
          <p:cNvPr id="20" name="Auto quantum tile"/>
          <p:cNvSpPr/>
          <p:nvPr/>
        </p:nvSpPr>
        <p:spPr>
          <a:xfrm>
            <a:off x="6720840" y="3749040"/>
            <a:ext cx="196596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3749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Auto quantum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Scoring the winner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212080" y="137160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metric is normalised: 0 = best algorithm, 1 = worst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Weighted penalties are subtracted from 100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Weights adapt to the workload: many I/O-bound jobs raise response time, uneven bursts raise waiting and starvation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Implementation</a:t>
            </a:r>
            <a:endParaRPr lang="en-US" sz="3200" dirty="0"/>
          </a:p>
        </p:txBody>
      </p:sp>
      <p:sp>
        <p:nvSpPr>
          <p:cNvPr id="3" name="Engine card"/>
          <p:cNvSpPr/>
          <p:nvPr/>
        </p:nvSpPr>
        <p:spPr>
          <a:xfrm>
            <a:off x="457200" y="1280160"/>
            <a:ext cx="2606040" cy="2697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Engine icon circle"/>
          <p:cNvSpPr/>
          <p:nvPr/>
        </p:nvSpPr>
        <p:spPr>
          <a:xfrm>
            <a:off x="68580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Engine icon" descr="Engi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6175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os_scheduler_analyzer.py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603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and psutil: probe, workload builder, 7 schedulers, scoring</a:t>
            </a:r>
            <a:endParaRPr lang="en-US" sz="1400" dirty="0"/>
          </a:p>
        </p:txBody>
      </p:sp>
      <p:sp>
        <p:nvSpPr>
          <p:cNvPr id="9" name="API card"/>
          <p:cNvSpPr/>
          <p:nvPr/>
        </p:nvSpPr>
        <p:spPr>
          <a:xfrm>
            <a:off x="3337560" y="1280160"/>
            <a:ext cx="2606040" cy="2697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API icon circle"/>
          <p:cNvSpPr/>
          <p:nvPr/>
        </p:nvSpPr>
        <p:spPr>
          <a:xfrm>
            <a:off x="3566160" y="14630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API icon" descr="API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694" y="16175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97680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API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server.py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5603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Standard-library HTTP server with a JSON endpoint /api/analyze</a:t>
            </a:r>
            <a:endParaRPr lang="en-US" sz="1400" dirty="0"/>
          </a:p>
        </p:txBody>
      </p:sp>
      <p:sp>
        <p:nvSpPr>
          <p:cNvPr id="15" name="Dashboard card"/>
          <p:cNvSpPr/>
          <p:nvPr/>
        </p:nvSpPr>
        <p:spPr>
          <a:xfrm>
            <a:off x="6217920" y="1280160"/>
            <a:ext cx="2606040" cy="2697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Dashboard icon circle"/>
          <p:cNvSpPr/>
          <p:nvPr/>
        </p:nvSpPr>
        <p:spPr>
          <a:xfrm>
            <a:off x="6446520" y="146304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Dashboard icon" descr="Dashboar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054" y="16175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78040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Dashboard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44652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static/index.html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25603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Plain HTML, CSS and JavaScript. No libraries, works offline</a:t>
            </a:r>
            <a:endParaRPr lang="en-US" sz="1400" dirty="0"/>
          </a:p>
        </p:txBody>
      </p:sp>
      <p:sp>
        <p:nvSpPr>
          <p:cNvPr id="21" name="Run command bar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 → python server.py → localhost:8000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web dashboard</a:t>
            </a:r>
            <a:endParaRPr lang="en-US" sz="3200" dirty="0"/>
          </a:p>
        </p:txBody>
      </p:sp>
      <p:sp>
        <p:nvSpPr>
          <p:cNvPr id="3" name="Screenshot frame"/>
          <p:cNvSpPr/>
          <p:nvPr/>
        </p:nvSpPr>
        <p:spPr>
          <a:xfrm>
            <a:off x="411480" y="1188720"/>
            <a:ext cx="5486400" cy="3041809"/>
          </a:xfrm>
          <a:prstGeom prst="roundRect">
            <a:avLst>
              <a:gd name="adj" fmla="val 2405"/>
            </a:avLst>
          </a:prstGeom>
          <a:solidFill>
            <a:schemeClr val="bg2"/>
          </a:solidFill>
          <a:ln/>
        </p:spPr>
      </p:sp>
      <p:pic>
        <p:nvPicPr>
          <p:cNvPr id="4" name="Dashboard screenshot" descr="Dashboard screenshot showing the recommended algorithm and system measure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394960" cy="295036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72200" y="1280160"/>
            <a:ext cx="2514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Winner banner with reasons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Live system measurements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Ranking, score and metric charts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Gantt chart for all 7 algorithms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Auto-refresh to watch it change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67689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Screenshot from a sample run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result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217920" y="1325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99.5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21792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SRTF score out of 100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-58%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3566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waiting time vs FCFS (37 ms against 89 ms)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Sample run on the development machine. Your laptop will produce its own numbers.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best algorithm depends on the load</a:t>
            </a:r>
            <a:endParaRPr lang="en-US" sz="3200" dirty="0"/>
          </a:p>
        </p:txBody>
      </p:sp>
      <p:sp>
        <p:nvSpPr>
          <p:cNvPr id="3" name="Uneven CPU jobs card"/>
          <p:cNvSpPr/>
          <p:nvPr/>
        </p:nvSpPr>
        <p:spPr>
          <a:xfrm>
            <a:off x="457200" y="128016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Uneven CPU jobs icon circle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Uneven CPU jobs icon" descr="Uneven CPU job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Uneven CPU jobs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SJF and SRTF win: short jobs finish first, waiting time drops.</a:t>
            </a:r>
            <a:endParaRPr lang="en-US" sz="1400" dirty="0"/>
          </a:p>
        </p:txBody>
      </p:sp>
      <p:sp>
        <p:nvSpPr>
          <p:cNvPr id="8" name="Interactive mix card"/>
          <p:cNvSpPr/>
          <p:nvPr/>
        </p:nvSpPr>
        <p:spPr>
          <a:xfrm>
            <a:off x="3337560" y="128016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Interactive mix icon circle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Interactive mix icon" descr="Interactive mix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81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Interactive mix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MLFQ and Round Robin rise: quick response matters more.</a:t>
            </a:r>
            <a:endParaRPr lang="en-US" sz="1400" dirty="0"/>
          </a:p>
        </p:txBody>
      </p:sp>
      <p:sp>
        <p:nvSpPr>
          <p:cNvPr id="13" name="Critical tasks card"/>
          <p:cNvSpPr/>
          <p:nvPr/>
        </p:nvSpPr>
        <p:spPr>
          <a:xfrm>
            <a:off x="6217920" y="128016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Critical tasks icon circle"/>
          <p:cNvSpPr/>
          <p:nvPr/>
        </p:nvSpPr>
        <p:spPr>
          <a:xfrm>
            <a:off x="6446520" y="15087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Critical tasks icon" descr="Critical task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1" y="16751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465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Critical tasks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4652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Priority scheduling runs urgent work first. Watch for starvation.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That is why the tool measures the workload instead of assuming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Limitations and future work</a:t>
            </a:r>
            <a:endParaRPr lang="en-US" sz="3200" dirty="0"/>
          </a:p>
        </p:txBody>
      </p:sp>
      <p:sp>
        <p:nvSpPr>
          <p:cNvPr id="3" name="Limitations card"/>
          <p:cNvSpPr/>
          <p:nvPr/>
        </p:nvSpPr>
        <p:spPr>
          <a:xfrm>
            <a:off x="457200" y="128016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Jobs are single bursts, not CPU and I/O cycles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Single-CPU 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aging in priority scheduling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Burst times scaled for readability</a:t>
            </a:r>
            <a:endParaRPr lang="en-US" sz="1600" dirty="0"/>
          </a:p>
        </p:txBody>
      </p:sp>
      <p:sp>
        <p:nvSpPr>
          <p:cNvPr id="6" name="Future work card"/>
          <p:cNvSpPr/>
          <p:nvPr/>
        </p:nvSpPr>
        <p:spPr>
          <a:xfrm>
            <a:off x="4754880" y="128016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Burst prediction by exponential averaging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Aging and an MLFQ priority boost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Multi-core simulation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Linux CFS as an eighth algorithm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Book icon circle"/>
          <p:cNvSpPr/>
          <p:nvPr/>
        </p:nvSpPr>
        <p:spPr>
          <a:xfrm>
            <a:off x="457200" y="1371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Book icon" descr="Boo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15617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371600"/>
            <a:ext cx="7132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Silberschatz, Galvin, Gagne. Operating System Concepts. Wiley.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Tanenbaum, Bos. Modern Operating Systems. Pearson.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psutil documentation: psutil.readthedocs.io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Linux kernel documentation: CFS scheduler design, kernel.org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6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No input card"/>
          <p:cNvSpPr/>
          <p:nvPr/>
        </p:nvSpPr>
        <p:spPr>
          <a:xfrm>
            <a:off x="640080" y="1554480"/>
            <a:ext cx="246888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No input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Every scheduling input is measured from the machine</a:t>
            </a:r>
            <a:endParaRPr lang="en-US" sz="1500" dirty="0"/>
          </a:p>
        </p:txBody>
      </p:sp>
      <p:sp>
        <p:nvSpPr>
          <p:cNvPr id="6" name="7 algorithms card"/>
          <p:cNvSpPr/>
          <p:nvPr/>
        </p:nvSpPr>
        <p:spPr>
          <a:xfrm>
            <a:off x="3337560" y="1554480"/>
            <a:ext cx="246888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7 algorithms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Compared fairly on one real workload</a:t>
            </a:r>
            <a:endParaRPr lang="en-US" sz="1500" dirty="0"/>
          </a:p>
        </p:txBody>
      </p:sp>
      <p:sp>
        <p:nvSpPr>
          <p:cNvPr id="9" name="1 verdict card"/>
          <p:cNvSpPr/>
          <p:nvPr/>
        </p:nvSpPr>
        <p:spPr>
          <a:xfrm>
            <a:off x="6035040" y="1554480"/>
            <a:ext cx="246888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 verdict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scored recommendation with reasons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Thank you.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edulerTeal">
  <a:themeElements>
    <a:clrScheme name="SchedulerTeal">
      <a:dk1>
        <a:srgbClr val="10202B"/>
      </a:dk1>
      <a:lt1>
        <a:srgbClr val="FFFFFF"/>
      </a:lt1>
      <a:dk2>
        <a:srgbClr val="1B4A5A"/>
      </a:dk2>
      <a:lt2>
        <a:srgbClr val="EAF2F5"/>
      </a:lt2>
      <a:accent1>
        <a:srgbClr val="00A396"/>
      </a:accent1>
      <a:accent2>
        <a:srgbClr val="F5A623"/>
      </a:accent2>
      <a:accent3>
        <a:srgbClr val="E4572E"/>
      </a:accent3>
      <a:accent4>
        <a:srgbClr val="6C5CE7"/>
      </a:accent4>
      <a:accent5>
        <a:srgbClr val="2E9E5B"/>
      </a:accent5>
      <a:accent6>
        <a:srgbClr val="8696A3"/>
      </a:accent6>
      <a:hlink>
        <a:srgbClr val="00A396"/>
      </a:hlink>
      <a:folHlink>
        <a:srgbClr val="6C5CE7"/>
      </a:folHlink>
    </a:clrScheme>
    <a:fontScheme name="Scheduler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CPU Scheduling Analyzer - Project Review</dc:title>
  <dc:subject>PptxGenJS Presentation</dc:subject>
  <dc:creator>PptxGenJS</dc:creator>
  <cp:lastModifiedBy>PptxGenJS</cp:lastModifiedBy>
  <cp:revision>1</cp:revision>
  <dcterms:created xsi:type="dcterms:W3CDTF">2026-10-24T06:16:07Z</dcterms:created>
  <dcterms:modified xsi:type="dcterms:W3CDTF">2026-10-24T06:16:07Z</dcterms:modified>
</cp:coreProperties>
</file>